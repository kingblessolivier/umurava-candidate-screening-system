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381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TalentAI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388BF5"/>
                </a:solidFill>
                <a:latin typeface="Calibri"/>
              </a:rPr>
              <a:t>AI-Powered Talent Screening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Umurava AI Hackathon  · 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Next.js  ·  Node.js  ·  MongoDB  ·  Google Gemini 2.0 Flash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88BF5"/>
                </a:solidFill>
                <a:latin typeface="Calibri"/>
              </a:rPr>
              <a:t>Why talent screening is broken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381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66928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527048"/>
            <a:ext cx="5440680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📋  Manual &amp; Slow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Recruiters spend 23 hrs/week just on screening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Most resumes receive &lt; 10 seconds of attention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66928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527048"/>
            <a:ext cx="5440680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⚖️  Biased by Default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Unconscious bias filters out qualified candidates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Gender language &amp; prestige bias are invisible to humans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566928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950208"/>
            <a:ext cx="5440680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🔍  No Explainability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Candidates never learn *why* they were rejected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Hiring decisions can't be audited or improved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84048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840480"/>
            <a:ext cx="566928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3950208"/>
            <a:ext cx="5440680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📊  One-Size-Fits-All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Every job requires different skill weightings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Generic ATS tools ignore role-specific priorities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Our Solution — TalentAI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88BF5"/>
                </a:solidFill>
                <a:latin typeface="Calibri"/>
              </a:rPr>
              <a:t>One platform. End-to-end AI screening.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381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TalentAI automates the entire candidate screening pipeline — from raw resume PDF to a ranked shortlist with confidence scores, bias alerts, and personalised rejection feedback — powered by Google Gemini 2.0 Flash.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2084831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2084831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33472"/>
            <a:ext cx="20848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88BF5"/>
                </a:solidFill>
                <a:latin typeface="Calibri"/>
              </a:rPr>
              <a:t>3-Stage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91840"/>
            <a:ext cx="20848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Gemini AI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514600"/>
            <a:ext cx="2084831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2514600"/>
            <a:ext cx="2084831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633472"/>
            <a:ext cx="20848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88BF5"/>
                </a:solidFill>
                <a:latin typeface="Calibri"/>
              </a:rPr>
              <a:t>0–100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91840"/>
            <a:ext cx="20848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Confidence Score per candidate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514600"/>
            <a:ext cx="2084831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60" y="2514600"/>
            <a:ext cx="2084831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2633472"/>
            <a:ext cx="20848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88BF5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291840"/>
            <a:ext cx="20848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Live Analytics Charts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514600"/>
            <a:ext cx="2084831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2514600"/>
            <a:ext cx="2084831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633472"/>
            <a:ext cx="20848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88BF5"/>
                </a:solidFill>
                <a:latin typeface="Calibri"/>
              </a:rPr>
              <a:t>25×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291840"/>
            <a:ext cx="20848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Batch processing per API call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2514600"/>
            <a:ext cx="2084831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09760" y="2514600"/>
            <a:ext cx="2084831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633472"/>
            <a:ext cx="20848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88BF5"/>
                </a:solidFill>
                <a:latin typeface="Calibri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291840"/>
            <a:ext cx="20848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Explainable rejections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What's included: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✓  Resume PDF parsing → structured TalentProfile stored in MongoDB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✓  AI Enhance Job: rough description → structured requirements + scoring weights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✓  Custom weight sliders per job (Skills / Experience / Education / Projects / Availability)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✓  Risk detection: unverified skills, short tenures, employment gaps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✓  Bias detection: gender language, age indicators, institution prestige bias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88BF5"/>
                </a:solidFill>
                <a:latin typeface="Calibri"/>
              </a:rPr>
              <a:t>Modern, production-grade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381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74320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572768"/>
            <a:ext cx="2514600" cy="486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Frontend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Next.js 15  (App Router + TypeScript)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Tailwind CSS  •  Redux Toolkit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Recharts  (5 analytics charts)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Dark mode support  •  PDF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463040"/>
            <a:ext cx="274320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572768"/>
            <a:ext cx="2514600" cy="486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Backend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Node.js + Express + TypeScript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MongoDB + Mongoose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Google Gemini 2.0 Flash (AI engine)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Multer  (PDF upload)  •  JWT Auth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274320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72768"/>
            <a:ext cx="2514600" cy="486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AI Layer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Preprocessing service → numeric signals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Prompt 1: Job Understanding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Prompt 2: Multi-Candidate Evaluation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Prompt 3: Final Ranking + Why Not Selected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146304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81160" y="1463040"/>
            <a:ext cx="274320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5752" y="1572768"/>
            <a:ext cx="2514600" cy="486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Infrastructure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RESTful API  •  Batch processing (25/call)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Multi-batch re-ranking for 50+ candidates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Resume upsert  (update existing profiles)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Confidence scoring  (0–100 per candidate)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3-Stage Gemini 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88BF5"/>
                </a:solidFill>
                <a:latin typeface="Calibri"/>
              </a:rPr>
              <a:t>How TalentAI thinks about your candidates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381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371600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388BF5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508760"/>
            <a:ext cx="98755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1508760"/>
            <a:ext cx="987552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1" y="1600200"/>
            <a:ext cx="9601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Job Understanding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Parse raw job description → extract must-have skills, nice-to-have skills, experience range, education requirements, and apply custom scoring weights.  AI Enhance auto-generates requirements from a rough brief.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72968"/>
            <a:ext cx="1371600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31012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84448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388BF5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3172968"/>
            <a:ext cx="98755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20240" y="3172968"/>
            <a:ext cx="987552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4831" y="3264408"/>
            <a:ext cx="9601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Multi-Candidate Evaluation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Batch-evaluate 25 candidates per API call against the parsed job spec. Preprocessing service extracts numeric signals (GPA, years of experience, tenure lengths) first to reduce Gemini hallucination.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37176"/>
            <a:ext cx="1371600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97433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248656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388BF5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4837176"/>
            <a:ext cx="98755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20240" y="4837176"/>
            <a:ext cx="987552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84831" y="4928616"/>
            <a:ext cx="9601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Final Ranking + Explanations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Re-rank across batches, assign 0–100 Confidence Score, flag bias signals, detect risks, and generate personalised 'Why Not Selected' feedback with actionable improvement suggestions for every rejected candidate.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88BF5"/>
                </a:solidFill>
                <a:latin typeface="Calibri"/>
              </a:rPr>
              <a:t>What makes TalentAI stand apart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381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56616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572768"/>
            <a:ext cx="333756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🎯  Confidence Score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0–100 numeric score per candidate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Based on verified signals, not vibes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Fully explainable to hiring managers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46304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63040"/>
            <a:ext cx="356616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572768"/>
            <a:ext cx="333756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⚖️  Bias Detection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Flags gender-coded language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Detects age indicators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Warns on institution prestige bias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356616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1" y="1572768"/>
            <a:ext cx="333756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💬  Why Not Selected?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Every rejected candidate gets feedback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Constructive improvement suggestions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Auditable, fair, legally defensible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56616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904488"/>
            <a:ext cx="333756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⚙️  Custom Weights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Per-job sliders: Skills / Exp / Edu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Projects &amp; Availability configurable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Weights must sum to 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37947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794760"/>
            <a:ext cx="356616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5112" y="3904488"/>
            <a:ext cx="333756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🔍  Risk Detection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Unverified skill claims flagged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Short tenures &amp; gaps highlighted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Recruiter attention drawn automatically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37947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3794760"/>
            <a:ext cx="3566160" cy="508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1" y="3904488"/>
            <a:ext cx="333756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📊  Analytics Dashboard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Top skills bar chart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Skill gap analysis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Candidate source &amp; recommendation pies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  • Top vs Avg radar 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88BF5"/>
                </a:solidFill>
                <a:latin typeface="Calibri"/>
              </a:rPr>
              <a:t>Data-driven insights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381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46304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88BF5"/>
                </a:solidFill>
                <a:latin typeface="Calibri"/>
              </a:rPr>
              <a:t>Bar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463040"/>
            <a:ext cx="9829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1463040"/>
            <a:ext cx="9829800" cy="381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150876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Top Skills in Pool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See which skills dominate your applicant pool vs job requirements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32304"/>
            <a:ext cx="146304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78024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88BF5"/>
                </a:solidFill>
                <a:latin typeface="Calibri"/>
              </a:rPr>
              <a:t>Bar Chart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2432304"/>
            <a:ext cx="9829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65960" y="2432304"/>
            <a:ext cx="9829800" cy="381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247802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Skill Gap Analysis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Identify where candidates fall short of the job spec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01568"/>
            <a:ext cx="146304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447288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88BF5"/>
                </a:solidFill>
                <a:latin typeface="Calibri"/>
              </a:rPr>
              <a:t>Pie Chart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3401568"/>
            <a:ext cx="9829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65960" y="3401568"/>
            <a:ext cx="9829800" cy="381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3447288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Recommendation Breakdown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Strong Yes / Yes / Maybe / No distribution at a glance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70832"/>
            <a:ext cx="146304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416552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88BF5"/>
                </a:solidFill>
                <a:latin typeface="Calibri"/>
              </a:rPr>
              <a:t>Pie Chart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4370832"/>
            <a:ext cx="9829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65960" y="4370832"/>
            <a:ext cx="9829800" cy="381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4416552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Candidate Sources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Track where your best candidates are coming from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40096"/>
            <a:ext cx="146304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385816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88BF5"/>
                </a:solidFill>
                <a:latin typeface="Calibri"/>
              </a:rPr>
              <a:t>Radar Chart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5960" y="5340096"/>
            <a:ext cx="9829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65960" y="5340096"/>
            <a:ext cx="9829800" cy="381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5385816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Top Candidate vs Average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Visual comparison of your best pick against the applicant average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Live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88BF5"/>
                </a:solidFill>
                <a:latin typeface="Calibri"/>
              </a:rPr>
              <a:t>End-to-end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381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94360" cy="82296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17904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698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17904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Create Job   </a:t>
            </a:r>
            <a:r>
              <a:rPr sz="1100" b="0">
                <a:solidFill>
                  <a:srgbClr val="64748B"/>
                </a:solidFill>
                <a:latin typeface="Calibri"/>
              </a:rPr>
              <a:t>— Post a new role + rough description  →  AI Enhance fills requirements &amp; sets weights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32304"/>
            <a:ext cx="594360" cy="82296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487168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432304"/>
            <a:ext cx="10698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48716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Upload Resumes   </a:t>
            </a:r>
            <a:r>
              <a:rPr sz="1100" b="0">
                <a:solidFill>
                  <a:srgbClr val="64748B"/>
                </a:solidFill>
                <a:latin typeface="Calibri"/>
              </a:rPr>
              <a:t>— Drag-and-drop PDF batch  →  Gemini parses each into a structured TalentProfile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01568"/>
            <a:ext cx="594360" cy="82296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456432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401568"/>
            <a:ext cx="10698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456432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Run Screening   </a:t>
            </a:r>
            <a:r>
              <a:rPr sz="1100" b="0">
                <a:solidFill>
                  <a:srgbClr val="64748B"/>
                </a:solidFill>
                <a:latin typeface="Calibri"/>
              </a:rPr>
              <a:t>— Hit 'Screen Candidates'  →  3-stage AI pipeline evaluates, ranks, explains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70832"/>
            <a:ext cx="594360" cy="82296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25696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370832"/>
            <a:ext cx="10698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425696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Review Results   </a:t>
            </a:r>
            <a:r>
              <a:rPr sz="1100" b="0">
                <a:solidFill>
                  <a:srgbClr val="64748B"/>
                </a:solidFill>
                <a:latin typeface="Calibri"/>
              </a:rPr>
              <a:t>— Sorted shortlist with scores, risk flags, bias alerts, and 'Why Not Selected'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40096"/>
            <a:ext cx="594360" cy="82296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3949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5340096"/>
            <a:ext cx="10698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53949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Analytics   </a:t>
            </a:r>
            <a:r>
              <a:rPr sz="1100" b="0">
                <a:solidFill>
                  <a:srgbClr val="64748B"/>
                </a:solidFill>
                <a:latin typeface="Calibri"/>
              </a:rPr>
              <a:t>— Dashboard auto-populates with 5 live charts showing pool-level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38100"/>
          </a:xfrm>
          <a:prstGeom prst="rect">
            <a:avLst/>
          </a:prstGeom>
          <a:solidFill>
            <a:srgbClr val="38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88BF5"/>
                </a:solidFill>
                <a:latin typeface="Calibri"/>
              </a:rPr>
              <a:t>Questions?  Let's talk.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nsengimana_222023259@stud.ur.ac.rw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TalentAI  ·  Umurava AI Hackathon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AI-Powered  ·  Explainable  ·  Bias-Aware  ·  Production-Ready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